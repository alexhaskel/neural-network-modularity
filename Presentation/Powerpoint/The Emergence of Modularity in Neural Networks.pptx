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57" r:id="rId12"/>
    <p:sldId id="263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108"/>
    <a:srgbClr val="FA0000"/>
    <a:srgbClr val="0BD323"/>
    <a:srgbClr val="01FF01"/>
    <a:srgbClr val="A52CAE"/>
    <a:srgbClr val="00FCF6"/>
    <a:srgbClr val="2B22DE"/>
    <a:srgbClr val="0000FF"/>
    <a:srgbClr val="00FFFF"/>
    <a:srgbClr val="BC3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21" autoAdjust="0"/>
  </p:normalViewPr>
  <p:slideViewPr>
    <p:cSldViewPr>
      <p:cViewPr>
        <p:scale>
          <a:sx n="70" d="100"/>
          <a:sy n="70" d="100"/>
        </p:scale>
        <p:origin x="-1733" y="-29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ABF68-4D00-4121-A678-F8A52F3EB9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A9FD3-F4C8-455C-8E2E-FF10BE7E0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59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CA9FD3-F4C8-455C-8E2E-FF10BE7E09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71E61-3768-4919-BA8C-585C27D394C2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58CB-93F9-487D-831F-A29FD99C4FB2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07C0-DC0B-4129-8399-C08F6CD229F7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7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F08E-2C96-4221-A95D-356A1EEC39A0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0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9174F-3064-41AE-96AF-43E02972A14E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52A0-169C-46CC-954B-1A81E554E45B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362-F4EC-4AC8-BD6C-A8BA44044ACD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F04E0-8AB4-4858-B3C2-11663D032C89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5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10E0-7702-4E54-9BB7-8F40C9360619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1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5396-04B0-4794-A71F-4A6E02FE902F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9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5ACF1-AAE7-4561-AEFA-30DEB19DE588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3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03171-194E-47F0-8345-F01F0D93050A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87515-A67D-4451-9A3D-BEC1BFD9B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6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7772400" cy="1470025"/>
          </a:xfrm>
        </p:spPr>
        <p:txBody>
          <a:bodyPr/>
          <a:lstStyle/>
          <a:p>
            <a:r>
              <a:rPr lang="en-US" b="1" dirty="0" smtClean="0"/>
              <a:t>The Emergence of Modularity in Neural Networks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590800"/>
            <a:ext cx="7696200" cy="1752600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tx1"/>
                </a:solidFill>
              </a:rPr>
              <a:t>Alex </a:t>
            </a:r>
            <a:r>
              <a:rPr lang="en-US" sz="4000" dirty="0" err="1" smtClean="0">
                <a:solidFill>
                  <a:schemeClr val="tx1"/>
                </a:solidFill>
              </a:rPr>
              <a:t>Haskel</a:t>
            </a:r>
            <a:endParaRPr lang="en-US" sz="4000" dirty="0" smtClean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Mentor: </a:t>
            </a:r>
            <a:r>
              <a:rPr lang="en-US" sz="4000" dirty="0" err="1" smtClean="0">
                <a:solidFill>
                  <a:schemeClr val="tx1"/>
                </a:solidFill>
              </a:rPr>
              <a:t>Daoyuan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en-US" sz="4000" dirty="0" err="1" smtClean="0">
                <a:solidFill>
                  <a:schemeClr val="tx1"/>
                </a:solidFill>
              </a:rPr>
              <a:t>Qian</a:t>
            </a:r>
            <a:endParaRPr lang="en-US" sz="4000" dirty="0" smtClean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PI: </a:t>
            </a:r>
            <a:r>
              <a:rPr lang="en-US" sz="4000" dirty="0" err="1" smtClean="0">
                <a:solidFill>
                  <a:schemeClr val="tx1"/>
                </a:solidFill>
              </a:rPr>
              <a:t>Ila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en-US" sz="4000" dirty="0" err="1" smtClean="0">
                <a:solidFill>
                  <a:schemeClr val="tx1"/>
                </a:solidFill>
              </a:rPr>
              <a:t>Fiete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4839395"/>
            <a:ext cx="3886200" cy="20186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254730"/>
            <a:ext cx="2286000" cy="14151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6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362200"/>
            <a:ext cx="8991600" cy="1470025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What is a modular task?</a:t>
            </a:r>
            <a:endParaRPr lang="en-US" sz="5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4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997" y="1960946"/>
            <a:ext cx="6324600" cy="29158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81400" y="5147961"/>
            <a:ext cx="3807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NON-MODULAR NETWORK</a:t>
            </a:r>
            <a:endParaRPr lang="en-US" sz="24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2225"/>
            <a:ext cx="8991600" cy="1470025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What is a modular neural network?</a:t>
            </a:r>
            <a:endParaRPr lang="en-US" sz="4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26935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INPUT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543800" y="380238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</a:rPr>
              <a:t>Color label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3800" y="25146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Shape label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508504"/>
            <a:ext cx="1517430" cy="1600200"/>
          </a:xfrm>
          <a:prstGeom prst="rect">
            <a:avLst/>
          </a:prstGeom>
        </p:spPr>
      </p:pic>
      <p:cxnSp>
        <p:nvCxnSpPr>
          <p:cNvPr id="18" name="Straight Arrow Connector 17"/>
          <p:cNvCxnSpPr>
            <a:stCxn id="16" idx="3"/>
          </p:cNvCxnSpPr>
          <p:nvPr/>
        </p:nvCxnSpPr>
        <p:spPr>
          <a:xfrm flipV="1">
            <a:off x="1746030" y="3048000"/>
            <a:ext cx="858967" cy="2743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3"/>
          </p:cNvCxnSpPr>
          <p:nvPr/>
        </p:nvCxnSpPr>
        <p:spPr>
          <a:xfrm>
            <a:off x="1746030" y="3308604"/>
            <a:ext cx="858967" cy="50139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52600" y="1905000"/>
            <a:ext cx="144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00000"/>
                </a:solidFill>
              </a:rPr>
              <a:t>Shape </a:t>
            </a:r>
          </a:p>
          <a:p>
            <a:r>
              <a:rPr lang="en-US" sz="2400" dirty="0" smtClean="0">
                <a:solidFill>
                  <a:srgbClr val="F00000"/>
                </a:solidFill>
              </a:rPr>
              <a:t>related </a:t>
            </a:r>
          </a:p>
          <a:p>
            <a:r>
              <a:rPr lang="en-US" sz="2400" dirty="0" smtClean="0">
                <a:solidFill>
                  <a:srgbClr val="F00000"/>
                </a:solidFill>
              </a:rPr>
              <a:t>data</a:t>
            </a:r>
            <a:endParaRPr lang="en-US" sz="2400" dirty="0">
              <a:solidFill>
                <a:srgbClr val="F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3733800"/>
            <a:ext cx="175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0"/>
                </a:solidFill>
              </a:rPr>
              <a:t>Color related</a:t>
            </a:r>
          </a:p>
          <a:p>
            <a:r>
              <a:rPr lang="en-US" sz="2400" dirty="0" smtClean="0">
                <a:solidFill>
                  <a:srgbClr val="0000F0"/>
                </a:solidFill>
              </a:rPr>
              <a:t>data</a:t>
            </a:r>
            <a:endParaRPr lang="en-US" sz="2400" dirty="0">
              <a:solidFill>
                <a:srgbClr val="0000F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0" grpId="0"/>
      <p:bldP spid="14" grpId="0"/>
      <p:bldP spid="15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532360" y="2814935"/>
            <a:ext cx="354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MODULAR NETWORK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669114" y="1676400"/>
            <a:ext cx="17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COLOR LABEL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4354" y="1086261"/>
            <a:ext cx="176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SHAPE LABEL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25721"/>
            <a:ext cx="1136430" cy="1198418"/>
          </a:xfrm>
          <a:prstGeom prst="rect">
            <a:avLst/>
          </a:prstGeom>
        </p:spPr>
      </p:pic>
      <p:cxnSp>
        <p:nvCxnSpPr>
          <p:cNvPr id="18" name="Straight Arrow Connector 17"/>
          <p:cNvCxnSpPr>
            <a:stCxn id="17" idx="3"/>
          </p:cNvCxnSpPr>
          <p:nvPr/>
        </p:nvCxnSpPr>
        <p:spPr>
          <a:xfrm flipV="1">
            <a:off x="1746030" y="1286256"/>
            <a:ext cx="1336785" cy="3386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3"/>
          </p:cNvCxnSpPr>
          <p:nvPr/>
        </p:nvCxnSpPr>
        <p:spPr>
          <a:xfrm>
            <a:off x="1746030" y="1624930"/>
            <a:ext cx="1336785" cy="300505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39" y="4153358"/>
            <a:ext cx="1136430" cy="1198418"/>
          </a:xfrm>
          <a:prstGeom prst="rect">
            <a:avLst/>
          </a:prstGeom>
        </p:spPr>
      </p:pic>
      <p:cxnSp>
        <p:nvCxnSpPr>
          <p:cNvPr id="21" name="Straight Arrow Connector 20"/>
          <p:cNvCxnSpPr>
            <a:stCxn id="20" idx="3"/>
          </p:cNvCxnSpPr>
          <p:nvPr/>
        </p:nvCxnSpPr>
        <p:spPr>
          <a:xfrm flipV="1">
            <a:off x="2308969" y="4101053"/>
            <a:ext cx="967631" cy="6515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0" idx="3"/>
          </p:cNvCxnSpPr>
          <p:nvPr/>
        </p:nvCxnSpPr>
        <p:spPr>
          <a:xfrm>
            <a:off x="2308969" y="4752567"/>
            <a:ext cx="967631" cy="886233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86200" y="6381690"/>
            <a:ext cx="2291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(same network)</a:t>
            </a:r>
            <a:endParaRPr lang="en-US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363996"/>
            <a:ext cx="4154234" cy="29606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91400" y="3810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SHAPE LABEL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30834" y="5410200"/>
            <a:ext cx="186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COLOR LABEL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15" y="518160"/>
            <a:ext cx="4645152" cy="21443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15" y="518160"/>
            <a:ext cx="4648200" cy="21488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52600" y="587514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00000"/>
                </a:solidFill>
              </a:rPr>
              <a:t>Shape </a:t>
            </a:r>
          </a:p>
          <a:p>
            <a:r>
              <a:rPr lang="en-US" sz="2000" dirty="0" smtClean="0">
                <a:solidFill>
                  <a:srgbClr val="F00000"/>
                </a:solidFill>
              </a:rPr>
              <a:t>related data</a:t>
            </a:r>
            <a:endParaRPr lang="en-US" sz="2000" dirty="0">
              <a:solidFill>
                <a:srgbClr val="F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76400" y="1959114"/>
            <a:ext cx="175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F0"/>
                </a:solidFill>
              </a:rPr>
              <a:t>Color related data</a:t>
            </a:r>
            <a:endParaRPr lang="en-US" sz="2000" dirty="0">
              <a:solidFill>
                <a:srgbClr val="0000F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08969" y="3363996"/>
            <a:ext cx="1436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00000"/>
                </a:solidFill>
              </a:rPr>
              <a:t>Shape </a:t>
            </a:r>
          </a:p>
          <a:p>
            <a:r>
              <a:rPr lang="en-US" sz="2000" dirty="0" smtClean="0">
                <a:solidFill>
                  <a:srgbClr val="F00000"/>
                </a:solidFill>
              </a:rPr>
              <a:t>related </a:t>
            </a:r>
          </a:p>
          <a:p>
            <a:r>
              <a:rPr lang="en-US" sz="2000" dirty="0" smtClean="0">
                <a:solidFill>
                  <a:srgbClr val="F00000"/>
                </a:solidFill>
              </a:rPr>
              <a:t>data</a:t>
            </a:r>
            <a:endParaRPr lang="en-US" sz="2000" dirty="0">
              <a:solidFill>
                <a:srgbClr val="F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76312" y="5232737"/>
            <a:ext cx="1152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F0"/>
                </a:solidFill>
              </a:rPr>
              <a:t>Color related data</a:t>
            </a:r>
            <a:endParaRPr lang="en-US" sz="2000" dirty="0">
              <a:solidFill>
                <a:srgbClr val="0000F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31" grpId="0"/>
      <p:bldP spid="30" grpId="0"/>
      <p:bldP spid="29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546" y="2206544"/>
            <a:ext cx="1445363" cy="14453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76200" y="1249740"/>
            <a:ext cx="495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TASK = MODULAR </a:t>
            </a:r>
          </a:p>
          <a:p>
            <a:pPr algn="ctr"/>
            <a:r>
              <a:rPr lang="en-US" sz="2400" dirty="0" smtClean="0"/>
              <a:t>SYSTEM ≠ MODULAR</a:t>
            </a:r>
          </a:p>
          <a:p>
            <a:pPr algn="ctr"/>
            <a:r>
              <a:rPr lang="en-US" sz="2400" dirty="0" smtClean="0"/>
              <a:t>MANY UNIQUE COMBINATIONS TO LEARN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410200" y="1380828"/>
            <a:ext cx="2628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BUT, IF SYSTEM IS MODULAR…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382672" y="2480646"/>
            <a:ext cx="2495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ONE </a:t>
            </a:r>
          </a:p>
          <a:p>
            <a:r>
              <a:rPr lang="en-US" sz="2000" dirty="0" smtClean="0"/>
              <a:t>COMPONENT </a:t>
            </a:r>
          </a:p>
          <a:p>
            <a:r>
              <a:rPr lang="en-US" sz="2000" dirty="0" smtClean="0"/>
              <a:t>LEARNS: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394920" y="3694211"/>
            <a:ext cx="410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ANOTHER COMPONENT LEARNS:</a:t>
            </a:r>
            <a:endParaRPr lang="en-US" sz="2000" dirty="0"/>
          </a:p>
        </p:txBody>
      </p:sp>
      <p:pic>
        <p:nvPicPr>
          <p:cNvPr id="13" name="Picture 12"/>
          <p:cNvPicPr preferRelativeResize="0"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764" y="2816509"/>
            <a:ext cx="866825" cy="952807"/>
          </a:xfrm>
          <a:prstGeom prst="rect">
            <a:avLst/>
          </a:prstGeom>
        </p:spPr>
      </p:pic>
      <p:pic>
        <p:nvPicPr>
          <p:cNvPr id="14" name="Picture 13"/>
          <p:cNvPicPr preferRelativeResize="0"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982" y="5273749"/>
            <a:ext cx="1027143" cy="1025003"/>
          </a:xfrm>
          <a:prstGeom prst="rect">
            <a:avLst/>
          </a:prstGeom>
        </p:spPr>
      </p:pic>
      <p:pic>
        <p:nvPicPr>
          <p:cNvPr id="15" name="Picture 14"/>
          <p:cNvPicPr preferRelativeResize="0"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790" y="2816504"/>
            <a:ext cx="1003610" cy="941552"/>
          </a:xfrm>
          <a:prstGeom prst="rect">
            <a:avLst/>
          </a:prstGeom>
        </p:spPr>
      </p:pic>
      <p:pic>
        <p:nvPicPr>
          <p:cNvPr id="16" name="Picture 15"/>
          <p:cNvPicPr preferRelativeResize="0"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92" y="4094321"/>
            <a:ext cx="1007881" cy="992902"/>
          </a:xfrm>
          <a:prstGeom prst="rect">
            <a:avLst/>
          </a:prstGeom>
        </p:spPr>
      </p:pic>
      <p:pic>
        <p:nvPicPr>
          <p:cNvPr id="17" name="Picture 16"/>
          <p:cNvPicPr preferRelativeResize="0"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44" y="2847016"/>
            <a:ext cx="956790" cy="956790"/>
          </a:xfrm>
          <a:prstGeom prst="rect">
            <a:avLst/>
          </a:prstGeom>
        </p:spPr>
      </p:pic>
      <p:pic>
        <p:nvPicPr>
          <p:cNvPr id="18" name="Picture 17"/>
          <p:cNvPicPr preferRelativeResize="0"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5296931"/>
            <a:ext cx="1014303" cy="103998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5340004"/>
            <a:ext cx="1076799" cy="10607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520" y="5264377"/>
            <a:ext cx="1095089" cy="109737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387" y="4035074"/>
            <a:ext cx="1095089" cy="111109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154" y="4035074"/>
            <a:ext cx="1163675" cy="98763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836" y="4035074"/>
            <a:ext cx="1170432" cy="1170432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ctrTitle"/>
          </p:nvPr>
        </p:nvSpPr>
        <p:spPr>
          <a:xfrm>
            <a:off x="76200" y="-98425"/>
            <a:ext cx="8991600" cy="1470025"/>
          </a:xfrm>
        </p:spPr>
        <p:txBody>
          <a:bodyPr>
            <a:normAutofit/>
          </a:bodyPr>
          <a:lstStyle/>
          <a:p>
            <a:r>
              <a:rPr lang="en-US" b="1" dirty="0" smtClean="0"/>
              <a:t>Why modularity is important</a:t>
            </a:r>
            <a:endParaRPr lang="en-US" b="1" dirty="0"/>
          </a:p>
        </p:txBody>
      </p:sp>
      <p:pic>
        <p:nvPicPr>
          <p:cNvPr id="33" name="Picture 32"/>
          <p:cNvPicPr preferRelativeResize="0"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743200"/>
            <a:ext cx="1247559" cy="1307714"/>
          </a:xfrm>
          <a:prstGeom prst="rect">
            <a:avLst/>
          </a:prstGeom>
        </p:spPr>
      </p:pic>
      <p:pic>
        <p:nvPicPr>
          <p:cNvPr id="34" name="Picture 33"/>
          <p:cNvPicPr preferRelativeResize="0"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72" y="3978348"/>
            <a:ext cx="1007881" cy="1096070"/>
          </a:xfrm>
          <a:prstGeom prst="rect">
            <a:avLst/>
          </a:prstGeom>
        </p:spPr>
      </p:pic>
      <p:pic>
        <p:nvPicPr>
          <p:cNvPr id="2" name="Picture 1"/>
          <p:cNvPicPr preferRelativeResize="0"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209" y="4186366"/>
            <a:ext cx="741824" cy="923714"/>
          </a:xfrm>
          <a:prstGeom prst="rect">
            <a:avLst/>
          </a:prstGeom>
        </p:spPr>
      </p:pic>
      <p:pic>
        <p:nvPicPr>
          <p:cNvPr id="3" name="Picture 2"/>
          <p:cNvPicPr preferRelativeResize="0"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34" y="5197547"/>
            <a:ext cx="1072077" cy="1078502"/>
          </a:xfrm>
          <a:prstGeom prst="rect">
            <a:avLst/>
          </a:prstGeom>
        </p:spPr>
      </p:pic>
      <p:pic>
        <p:nvPicPr>
          <p:cNvPr id="6" name="Picture 5"/>
          <p:cNvPicPr preferRelativeResize="0"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80" y="5380880"/>
            <a:ext cx="1016442" cy="888874"/>
          </a:xfrm>
          <a:prstGeom prst="rect">
            <a:avLst/>
          </a:prstGeom>
        </p:spPr>
      </p:pic>
      <p:pic>
        <p:nvPicPr>
          <p:cNvPr id="8" name="Picture 7"/>
          <p:cNvPicPr preferRelativeResize="0"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980" y="4121503"/>
            <a:ext cx="1020556" cy="10370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85" y="5334430"/>
            <a:ext cx="905031" cy="99480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4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990600" y="-76200"/>
            <a:ext cx="739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How </a:t>
            </a:r>
            <a:r>
              <a:rPr lang="en-US" sz="4400" dirty="0"/>
              <a:t>w</a:t>
            </a:r>
            <a:r>
              <a:rPr lang="en-US" sz="4400" dirty="0" smtClean="0"/>
              <a:t>e encouraged modularity in neural networks</a:t>
            </a:r>
            <a:endParaRPr lang="en-US" sz="4400" dirty="0"/>
          </a:p>
        </p:txBody>
      </p:sp>
      <p:sp>
        <p:nvSpPr>
          <p:cNvPr id="26" name="Oval 25"/>
          <p:cNvSpPr>
            <a:spLocks noChangeAspect="1"/>
          </p:cNvSpPr>
          <p:nvPr/>
        </p:nvSpPr>
        <p:spPr>
          <a:xfrm>
            <a:off x="1613710" y="4424486"/>
            <a:ext cx="1239075" cy="12173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  <a:effectLst>
            <a:glow rad="317500">
              <a:srgbClr val="FF0000">
                <a:alpha val="33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823459" y="2472496"/>
            <a:ext cx="350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Numerous/strong </a:t>
            </a:r>
          </a:p>
          <a:p>
            <a:pPr algn="ctr"/>
            <a:r>
              <a:rPr lang="en-US" sz="2400" dirty="0" smtClean="0"/>
              <a:t>connections</a:t>
            </a:r>
          </a:p>
          <a:p>
            <a:pPr algn="ctr"/>
            <a:r>
              <a:rPr lang="en-US" sz="2400" dirty="0" smtClean="0"/>
              <a:t>=</a:t>
            </a:r>
          </a:p>
          <a:p>
            <a:pPr algn="ctr"/>
            <a:r>
              <a:rPr lang="en-US" sz="2400" dirty="0" smtClean="0"/>
              <a:t>Large penalty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18" y="1600200"/>
            <a:ext cx="5234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Highly active unit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459" y="2010489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+</a:t>
            </a:r>
            <a:endParaRPr lang="en-US" sz="2400" dirty="0"/>
          </a:p>
        </p:txBody>
      </p: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flipV="1">
            <a:off x="2852785" y="4493168"/>
            <a:ext cx="1237424" cy="495200"/>
          </a:xfrm>
          <a:prstGeom prst="straightConnector1">
            <a:avLst/>
          </a:prstGeom>
          <a:ln w="57150">
            <a:solidFill>
              <a:srgbClr val="A30014">
                <a:alpha val="1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flipV="1">
            <a:off x="2857571" y="4894671"/>
            <a:ext cx="1311720" cy="138484"/>
          </a:xfrm>
          <a:prstGeom prst="straightConnector1">
            <a:avLst/>
          </a:prstGeom>
          <a:ln w="57150">
            <a:solidFill>
              <a:srgbClr val="A30014">
                <a:alpha val="15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 noChangeAspect="1"/>
          </p:cNvCxnSpPr>
          <p:nvPr/>
        </p:nvCxnSpPr>
        <p:spPr>
          <a:xfrm>
            <a:off x="2852785" y="5067999"/>
            <a:ext cx="1440153" cy="301544"/>
          </a:xfrm>
          <a:prstGeom prst="straightConnector1">
            <a:avLst/>
          </a:prstGeom>
          <a:ln w="57150">
            <a:solidFill>
              <a:srgbClr val="A3001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 noChangeAspect="1"/>
          </p:cNvCxnSpPr>
          <p:nvPr/>
        </p:nvCxnSpPr>
        <p:spPr>
          <a:xfrm>
            <a:off x="2825939" y="5220399"/>
            <a:ext cx="1311720" cy="495399"/>
          </a:xfrm>
          <a:prstGeom prst="straightConnector1">
            <a:avLst/>
          </a:prstGeom>
          <a:ln w="57150">
            <a:solidFill>
              <a:srgbClr val="A30014">
                <a:alpha val="15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 noChangeAspect="1"/>
          </p:cNvCxnSpPr>
          <p:nvPr/>
        </p:nvCxnSpPr>
        <p:spPr>
          <a:xfrm>
            <a:off x="2771210" y="5334699"/>
            <a:ext cx="1187894" cy="743050"/>
          </a:xfrm>
          <a:prstGeom prst="straightConnector1">
            <a:avLst/>
          </a:prstGeom>
          <a:ln w="57150">
            <a:solidFill>
              <a:srgbClr val="A30014">
                <a:alpha val="30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>
            <a:spLocks noChangeAspect="1"/>
          </p:cNvSpPr>
          <p:nvPr/>
        </p:nvSpPr>
        <p:spPr>
          <a:xfrm>
            <a:off x="1580396" y="2033198"/>
            <a:ext cx="1239075" cy="12173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>
            <a:glow rad="1270000">
              <a:srgbClr val="FF0000">
                <a:alpha val="7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flipV="1">
            <a:off x="2807947" y="1954596"/>
            <a:ext cx="1237424" cy="495200"/>
          </a:xfrm>
          <a:prstGeom prst="straightConnector1">
            <a:avLst/>
          </a:prstGeom>
          <a:ln w="57150">
            <a:solidFill>
              <a:srgbClr val="A3001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 noChangeAspect="1"/>
          </p:cNvCxnSpPr>
          <p:nvPr/>
        </p:nvCxnSpPr>
        <p:spPr>
          <a:xfrm flipV="1">
            <a:off x="2807940" y="2503383"/>
            <a:ext cx="1311720" cy="138484"/>
          </a:xfrm>
          <a:prstGeom prst="straightConnector1">
            <a:avLst/>
          </a:prstGeom>
          <a:ln w="57150">
            <a:solidFill>
              <a:srgbClr val="A3001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  <a:stCxn id="44" idx="6"/>
          </p:cNvCxnSpPr>
          <p:nvPr/>
        </p:nvCxnSpPr>
        <p:spPr>
          <a:xfrm>
            <a:off x="2819471" y="2641867"/>
            <a:ext cx="1457766" cy="305232"/>
          </a:xfrm>
          <a:prstGeom prst="straightConnector1">
            <a:avLst/>
          </a:prstGeom>
          <a:ln w="57150">
            <a:solidFill>
              <a:srgbClr val="A3001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 noChangeAspect="1"/>
          </p:cNvCxnSpPr>
          <p:nvPr/>
        </p:nvCxnSpPr>
        <p:spPr>
          <a:xfrm>
            <a:off x="2796611" y="2803549"/>
            <a:ext cx="1311720" cy="495399"/>
          </a:xfrm>
          <a:prstGeom prst="straightConnector1">
            <a:avLst/>
          </a:prstGeom>
          <a:ln w="57150">
            <a:solidFill>
              <a:srgbClr val="A3001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 noChangeAspect="1"/>
          </p:cNvCxnSpPr>
          <p:nvPr/>
        </p:nvCxnSpPr>
        <p:spPr>
          <a:xfrm>
            <a:off x="2796610" y="2865934"/>
            <a:ext cx="1222175" cy="764493"/>
          </a:xfrm>
          <a:prstGeom prst="straightConnector1">
            <a:avLst/>
          </a:prstGeom>
          <a:ln w="57150">
            <a:solidFill>
              <a:srgbClr val="A3001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138927" y="5217602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Few/weak</a:t>
            </a:r>
          </a:p>
          <a:p>
            <a:pPr algn="ctr"/>
            <a:r>
              <a:rPr lang="en-US" sz="2400" dirty="0" smtClean="0"/>
              <a:t>connections</a:t>
            </a:r>
          </a:p>
          <a:p>
            <a:pPr algn="ctr"/>
            <a:r>
              <a:rPr lang="en-US" sz="2400" dirty="0" smtClean="0"/>
              <a:t>=</a:t>
            </a:r>
          </a:p>
          <a:p>
            <a:pPr algn="ctr"/>
            <a:r>
              <a:rPr lang="en-US" sz="2400" dirty="0" smtClean="0"/>
              <a:t>Small penalty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5259" y="4305999"/>
            <a:ext cx="5234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Weakly active unit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8127" y="4740768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+</a:t>
            </a:r>
            <a:endParaRPr lang="en-US" sz="3200" dirty="0"/>
          </a:p>
        </p:txBody>
      </p:sp>
      <p:sp>
        <p:nvSpPr>
          <p:cNvPr id="53" name="Square top"/>
          <p:cNvSpPr/>
          <p:nvPr/>
        </p:nvSpPr>
        <p:spPr>
          <a:xfrm>
            <a:off x="5227318" y="1600201"/>
            <a:ext cx="2689859" cy="2441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Square bottom"/>
          <p:cNvSpPr/>
          <p:nvPr/>
        </p:nvSpPr>
        <p:spPr>
          <a:xfrm>
            <a:off x="5257800" y="4325363"/>
            <a:ext cx="2689859" cy="2461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Slide Number Placeholder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 animBg="1"/>
      <p:bldP spid="28" grpId="0"/>
      <p:bldP spid="30" grpId="0"/>
      <p:bldP spid="33" grpId="0"/>
      <p:bldP spid="44" grpId="0" animBg="1"/>
      <p:bldP spid="50" grpId="0"/>
      <p:bldP spid="51" grpId="0"/>
      <p:bldP spid="52" grpId="0"/>
      <p:bldP spid="53" grpId="0" animBg="1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>
            <a:off x="6477000" y="3417716"/>
            <a:ext cx="533400" cy="1669073"/>
          </a:xfrm>
          <a:prstGeom prst="straightConnector1">
            <a:avLst/>
          </a:prstGeom>
          <a:ln w="38100">
            <a:solidFill>
              <a:srgbClr val="FF0000">
                <a:alpha val="3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09600" y="1790581"/>
            <a:ext cx="7924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Highly correlated properties → Poor modularity </a:t>
            </a:r>
            <a:endParaRPr lang="en-US" sz="2800" dirty="0"/>
          </a:p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9600" y="5417403"/>
            <a:ext cx="8202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However, minimizing correlation between properties doesn’t guarantee modular solutions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154" y="2857552"/>
            <a:ext cx="2057646" cy="22478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154" y="2895600"/>
            <a:ext cx="1718654" cy="16081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45" y="2905914"/>
            <a:ext cx="1516909" cy="159005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028196"/>
            <a:ext cx="1356802" cy="14755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556694"/>
            <a:ext cx="2070398" cy="13944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898244"/>
            <a:ext cx="1551641" cy="1096850"/>
          </a:xfrm>
          <a:prstGeom prst="rect">
            <a:avLst/>
          </a:prstGeom>
        </p:spPr>
      </p:pic>
      <p:sp>
        <p:nvSpPr>
          <p:cNvPr id="27" name="Title 1"/>
          <p:cNvSpPr txBox="1">
            <a:spLocks/>
          </p:cNvSpPr>
          <p:nvPr/>
        </p:nvSpPr>
        <p:spPr>
          <a:xfrm>
            <a:off x="152400" y="130175"/>
            <a:ext cx="8991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How does dataset design affect modularity in neural networks?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5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>
            <a:off x="6477000" y="3417716"/>
            <a:ext cx="533400" cy="1669073"/>
          </a:xfrm>
          <a:prstGeom prst="straightConnector1">
            <a:avLst/>
          </a:prstGeom>
          <a:ln w="38100">
            <a:solidFill>
              <a:srgbClr val="FF0000">
                <a:alpha val="3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200" y="319230"/>
            <a:ext cx="9982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Highly contrasted combinations → Great modularity </a:t>
            </a:r>
            <a:endParaRPr lang="en-US" sz="3200" b="1" dirty="0"/>
          </a:p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81000" y="5039380"/>
            <a:ext cx="843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Hard to quantify exactly; may require a custom metric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381000" y="5867400"/>
            <a:ext cx="820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 smtClean="0"/>
              <a:t>Best way to exploit this remains to be seen</a:t>
            </a:r>
            <a:endParaRPr lang="en-US" sz="28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366753"/>
            <a:ext cx="1768755" cy="216274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05" y="2811749"/>
            <a:ext cx="1719221" cy="186965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7" y="2736534"/>
            <a:ext cx="1664114" cy="182917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126" y="2718828"/>
            <a:ext cx="2133404" cy="181066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61755"/>
            <a:ext cx="2181033" cy="228619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325" y="811458"/>
            <a:ext cx="2194750" cy="238679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10" y="783093"/>
            <a:ext cx="2194750" cy="238679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83092"/>
            <a:ext cx="2194750" cy="23867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>
            <a:off x="6477000" y="3417716"/>
            <a:ext cx="533400" cy="1669073"/>
          </a:xfrm>
          <a:prstGeom prst="straightConnector1">
            <a:avLst/>
          </a:prstGeom>
          <a:ln w="38100">
            <a:solidFill>
              <a:srgbClr val="FF0000">
                <a:alpha val="3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59162"/>
            <a:ext cx="9982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/>
              <a:t>Takeaways</a:t>
            </a:r>
            <a:endParaRPr lang="en-US" sz="3200" b="1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200" y="1088648"/>
            <a:ext cx="8991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600" dirty="0" smtClean="0"/>
              <a:t>Whether a network discovers a </a:t>
            </a:r>
            <a:r>
              <a:rPr lang="en-US" sz="2600" b="1" dirty="0" smtClean="0">
                <a:solidFill>
                  <a:srgbClr val="FF0000"/>
                </a:solidFill>
              </a:rPr>
              <a:t>modular solution</a:t>
            </a:r>
            <a:r>
              <a:rPr lang="en-US" sz="2600" dirty="0" smtClean="0"/>
              <a:t> </a:t>
            </a:r>
            <a:r>
              <a:rPr lang="en-US" sz="2600" b="1" dirty="0" smtClean="0">
                <a:solidFill>
                  <a:srgbClr val="FF0000"/>
                </a:solidFill>
              </a:rPr>
              <a:t>depends on the data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/>
              <a:t>it is trained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197894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/>
              <a:t>Acknowledgements</a:t>
            </a:r>
            <a:endParaRPr lang="en-US" sz="4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6153090"/>
            <a:ext cx="8645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MSRP-Bio Program, </a:t>
            </a:r>
            <a:r>
              <a:rPr lang="en-US" sz="2000" dirty="0" err="1" smtClean="0"/>
              <a:t>Mandana</a:t>
            </a:r>
            <a:r>
              <a:rPr lang="en-US" sz="2000" dirty="0" smtClean="0"/>
              <a:t>, </a:t>
            </a:r>
            <a:r>
              <a:rPr lang="en-US" sz="2000" dirty="0" err="1" smtClean="0"/>
              <a:t>Paloma</a:t>
            </a:r>
            <a:r>
              <a:rPr lang="en-US" sz="2000" dirty="0" smtClean="0"/>
              <a:t>, </a:t>
            </a:r>
            <a:r>
              <a:rPr lang="en-US" sz="2000" dirty="0" err="1" smtClean="0"/>
              <a:t>Fiete</a:t>
            </a:r>
            <a:r>
              <a:rPr lang="en-US" sz="2000" dirty="0" smtClean="0"/>
              <a:t> Lab and my mentor, </a:t>
            </a:r>
            <a:r>
              <a:rPr lang="en-US" sz="2000" dirty="0" err="1" smtClean="0"/>
              <a:t>Daoyuan</a:t>
            </a:r>
            <a:r>
              <a:rPr lang="en-US" sz="2000" dirty="0" smtClean="0"/>
              <a:t> </a:t>
            </a:r>
            <a:r>
              <a:rPr lang="en-US" sz="2000" dirty="0" err="1" smtClean="0"/>
              <a:t>Qian</a:t>
            </a:r>
            <a:endParaRPr lang="en-US" sz="2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102" y="5029200"/>
            <a:ext cx="2282698" cy="1185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5242193"/>
            <a:ext cx="1462669" cy="905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" y="2042517"/>
            <a:ext cx="89916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600" b="1" dirty="0" smtClean="0">
                <a:solidFill>
                  <a:srgbClr val="FF0000"/>
                </a:solidFill>
              </a:rPr>
              <a:t>Strong statistical dependence inhibits modularity</a:t>
            </a:r>
            <a:r>
              <a:rPr lang="en-US" sz="2600" dirty="0" smtClean="0"/>
              <a:t>, but reducing it does not guarantee it.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 smtClean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2973050"/>
            <a:ext cx="88742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600" b="1" dirty="0" smtClean="0">
                <a:solidFill>
                  <a:srgbClr val="FF0000"/>
                </a:solidFill>
              </a:rPr>
              <a:t>Repeated contrasts are highly effective</a:t>
            </a:r>
            <a:r>
              <a:rPr lang="en-US" sz="2600" b="1" dirty="0" smtClean="0"/>
              <a:t> </a:t>
            </a:r>
            <a:r>
              <a:rPr lang="en-US" sz="2600" dirty="0" smtClean="0"/>
              <a:t>at inducing modularity.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3997404"/>
            <a:ext cx="87218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Future work may examine how to measure and exploit this structural property for dataset construction.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6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/>
          <p:cNvCxnSpPr/>
          <p:nvPr/>
        </p:nvCxnSpPr>
        <p:spPr>
          <a:xfrm>
            <a:off x="6477000" y="3417716"/>
            <a:ext cx="533400" cy="1669073"/>
          </a:xfrm>
          <a:prstGeom prst="straightConnector1">
            <a:avLst/>
          </a:prstGeom>
          <a:ln w="38100">
            <a:solidFill>
              <a:srgbClr val="FF0000">
                <a:alpha val="3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33600" y="2590562"/>
            <a:ext cx="5257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Extra slides</a:t>
            </a:r>
            <a:endParaRPr lang="en-US" sz="5400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514600"/>
            <a:ext cx="8991600" cy="1470025"/>
          </a:xfrm>
        </p:spPr>
        <p:txBody>
          <a:bodyPr>
            <a:normAutofit/>
          </a:bodyPr>
          <a:lstStyle/>
          <a:p>
            <a:r>
              <a:rPr lang="en-US" sz="5400" dirty="0" smtClean="0"/>
              <a:t>What is a neural network?</a:t>
            </a:r>
            <a:endParaRPr lang="en-US" sz="5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9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60" y="795527"/>
            <a:ext cx="9342460" cy="525513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84976" y="5486400"/>
            <a:ext cx="2819400" cy="457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6200" y="6497812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 3Blue1Brown (Grant Sanderson)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" y="0"/>
            <a:ext cx="8991600" cy="1470025"/>
          </a:xfrm>
        </p:spPr>
        <p:txBody>
          <a:bodyPr>
            <a:normAutofit/>
          </a:bodyPr>
          <a:lstStyle/>
          <a:p>
            <a:r>
              <a:rPr lang="en-US" sz="5400" dirty="0" smtClean="0"/>
              <a:t>Connectivity Matrix Examples </a:t>
            </a:r>
            <a:endParaRPr lang="en-US" sz="5400" dirty="0"/>
          </a:p>
        </p:txBody>
      </p:sp>
      <p:pic>
        <p:nvPicPr>
          <p:cNvPr id="3" name="Modular Matrix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0" t="9150" r="15886" b="3960"/>
          <a:stretch/>
        </p:blipFill>
        <p:spPr>
          <a:xfrm>
            <a:off x="2061656" y="1143006"/>
            <a:ext cx="6757412" cy="2606984"/>
          </a:xfrm>
          <a:prstGeom prst="rect">
            <a:avLst/>
          </a:prstGeom>
        </p:spPr>
      </p:pic>
      <p:pic>
        <p:nvPicPr>
          <p:cNvPr id="4" name="Nonmodular matrix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9091" r="15909" b="4545"/>
          <a:stretch/>
        </p:blipFill>
        <p:spPr>
          <a:xfrm>
            <a:off x="2059828" y="4168568"/>
            <a:ext cx="6759240" cy="2594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10000" y="3749990"/>
                <a:ext cx="3886200" cy="52322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4 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×32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800" b="0" i="1" smtClean="0">
                          <a:latin typeface="Cambria Math"/>
                        </a:rPr>
                        <m:t>32 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×32 ×4</m:t>
                      </m:r>
                      <m:r>
                        <a:rPr lang="en-US" sz="28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749990"/>
                <a:ext cx="3886200" cy="523220"/>
              </a:xfrm>
              <a:prstGeom prst="rect">
                <a:avLst/>
              </a:prstGeom>
              <a:blipFill rotWithShape="1">
                <a:blip r:embed="rId7"/>
                <a:stretch>
                  <a:fillRect t="-10345" r="-2817" b="-31034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51130" y="2895600"/>
            <a:ext cx="2973070" cy="46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Modular matrix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5565" y="6248400"/>
            <a:ext cx="3658235" cy="46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Non-modular matrix</a:t>
            </a:r>
            <a:endParaRPr lang="en-US" sz="3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7515-A67D-4451-9A3D-BEC1BFD9B3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14424</TotalTime>
  <Words>302</Words>
  <Application>Microsoft Office PowerPoint</Application>
  <PresentationFormat>On-screen Show (4:3)</PresentationFormat>
  <Paragraphs>96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The Emergence of Modularity in Neural Networks</vt:lpstr>
      <vt:lpstr>What is a modular task?</vt:lpstr>
      <vt:lpstr>What is a modular neural network?</vt:lpstr>
      <vt:lpstr>PowerPoint Presentation</vt:lpstr>
      <vt:lpstr>Why modularity is important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neural network?</vt:lpstr>
      <vt:lpstr>PowerPoint Presentation</vt:lpstr>
      <vt:lpstr>Connectivity Matrix Examples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</dc:creator>
  <cp:lastModifiedBy>Alex</cp:lastModifiedBy>
  <cp:revision>61</cp:revision>
  <dcterms:created xsi:type="dcterms:W3CDTF">2026-07-24T17:51:04Z</dcterms:created>
  <dcterms:modified xsi:type="dcterms:W3CDTF">2026-08-05T00:42:55Z</dcterms:modified>
</cp:coreProperties>
</file>